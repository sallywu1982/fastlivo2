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slides/slide37.xml" Type="http://schemas.openxmlformats.org/officeDocument/2006/relationships/slide"/><Relationship Id="rId46" Target="slides/slide38.xml" Type="http://schemas.openxmlformats.org/officeDocument/2006/relationships/slide"/><Relationship Id="rId47" Target="slides/slide39.xml" Type="http://schemas.openxmlformats.org/officeDocument/2006/relationships/slide"/><Relationship Id="rId48" Target="slides/slide40.xml" Type="http://schemas.openxmlformats.org/officeDocument/2006/relationships/slide"/><Relationship Id="rId49" Target="notesSlides/notesSlide1.xml" Type="http://schemas.openxmlformats.org/officeDocument/2006/relationships/notesSlide"/><Relationship Id="rId50" Target="notesSlides/notesSlide2.xml" Type="http://schemas.openxmlformats.org/officeDocument/2006/relationships/notesSlide"/><Relationship Id="rId51" Target="notesSlides/notesSlide3.xml" Type="http://schemas.openxmlformats.org/officeDocument/2006/relationships/notesSlide"/><Relationship Id="rId52" Target="notesSlides/notesSlide4.xml" Type="http://schemas.openxmlformats.org/officeDocument/2006/relationships/notesSlide"/><Relationship Id="rId53" Target="notesSlides/notesSlide5.xml" Type="http://schemas.openxmlformats.org/officeDocument/2006/relationships/notesSlide"/><Relationship Id="rId54" Target="notesSlides/notesSlide6.xml" Type="http://schemas.openxmlformats.org/officeDocument/2006/relationships/notesSlide"/><Relationship Id="rId55" Target="notesSlides/notesSlide7.xml" Type="http://schemas.openxmlformats.org/officeDocument/2006/relationships/notesSlide"/><Relationship Id="rId56" Target="notesSlides/notesSlide8.xml" Type="http://schemas.openxmlformats.org/officeDocument/2006/relationships/notesSlide"/><Relationship Id="rId57" Target="notesSlides/notesSlide9.xml" Type="http://schemas.openxmlformats.org/officeDocument/2006/relationships/notesSlide"/><Relationship Id="rId58" Target="notesSlides/notesSlide10.xml" Type="http://schemas.openxmlformats.org/officeDocument/2006/relationships/notesSlide"/><Relationship Id="rId59" Target="notesSlides/notesSlide11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2.xml" Type="http://schemas.openxmlformats.org/officeDocument/2006/relationships/notesSlide"/><Relationship Id="rId61" Target="notesSlides/notesSlide13.xml" Type="http://schemas.openxmlformats.org/officeDocument/2006/relationships/notesSlide"/><Relationship Id="rId62" Target="notesSlides/notesSlide14.xml" Type="http://schemas.openxmlformats.org/officeDocument/2006/relationships/notesSlide"/><Relationship Id="rId63" Target="notesSlides/notesSlide15.xml" Type="http://schemas.openxmlformats.org/officeDocument/2006/relationships/notesSlide"/><Relationship Id="rId64" Target="notesSlides/notesSlide16.xml" Type="http://schemas.openxmlformats.org/officeDocument/2006/relationships/notesSlide"/><Relationship Id="rId65" Target="notesSlides/notesSlide17.xml" Type="http://schemas.openxmlformats.org/officeDocument/2006/relationships/notesSlide"/><Relationship Id="rId66" Target="notesSlides/notesSlide18.xml" Type="http://schemas.openxmlformats.org/officeDocument/2006/relationships/notesSlide"/><Relationship Id="rId67" Target="notesSlides/notesSlide19.xml" Type="http://schemas.openxmlformats.org/officeDocument/2006/relationships/notesSlide"/><Relationship Id="rId68" Target="notesSlides/notesSlide20.xml" Type="http://schemas.openxmlformats.org/officeDocument/2006/relationships/notesSlide"/><Relationship Id="rId69" Target="notesSlides/notesSlide21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2.xml" Type="http://schemas.openxmlformats.org/officeDocument/2006/relationships/notesSlide"/><Relationship Id="rId71" Target="notesSlides/notesSlide23.xml" Type="http://schemas.openxmlformats.org/officeDocument/2006/relationships/notesSlide"/><Relationship Id="rId72" Target="notesSlides/notesSlide24.xml" Type="http://schemas.openxmlformats.org/officeDocument/2006/relationships/notesSlide"/><Relationship Id="rId73" Target="notesSlides/notesSlide25.xml" Type="http://schemas.openxmlformats.org/officeDocument/2006/relationships/notesSlide"/><Relationship Id="rId74" Target="notesSlides/notesSlide26.xml" Type="http://schemas.openxmlformats.org/officeDocument/2006/relationships/notesSlide"/><Relationship Id="rId75" Target="notesSlides/notesSlide27.xml" Type="http://schemas.openxmlformats.org/officeDocument/2006/relationships/notesSlide"/><Relationship Id="rId76" Target="notesSlides/notesSlide28.xml" Type="http://schemas.openxmlformats.org/officeDocument/2006/relationships/notesSlide"/><Relationship Id="rId77" Target="notesSlides/notesSlide29.xml" Type="http://schemas.openxmlformats.org/officeDocument/2006/relationships/notesSlide"/><Relationship Id="rId78" Target="notesSlides/notesSlide30.xml" Type="http://schemas.openxmlformats.org/officeDocument/2006/relationships/notesSlide"/><Relationship Id="rId79" Target="notesSlides/notesSlide31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2.xml" Type="http://schemas.openxmlformats.org/officeDocument/2006/relationships/notesSlide"/><Relationship Id="rId81" Target="notesSlides/notesSlide33.xml" Type="http://schemas.openxmlformats.org/officeDocument/2006/relationships/notesSlide"/><Relationship Id="rId82" Target="notesSlides/notesSlide34.xml" Type="http://schemas.openxmlformats.org/officeDocument/2006/relationships/notesSlide"/><Relationship Id="rId83" Target="notesSlides/notesSlide35.xml" Type="http://schemas.openxmlformats.org/officeDocument/2006/relationships/notesSlide"/><Relationship Id="rId84" Target="notesSlides/notesSlide36.xml" Type="http://schemas.openxmlformats.org/officeDocument/2006/relationships/notesSlide"/><Relationship Id="rId85" Target="notesSlides/notesSlide37.xml" Type="http://schemas.openxmlformats.org/officeDocument/2006/relationships/notesSlide"/><Relationship Id="rId86" Target="notesSlides/notesSlide38.xml" Type="http://schemas.openxmlformats.org/officeDocument/2006/relationships/notesSlide"/><Relationship Id="rId87" Target="notesSlides/notesSlide39.xml" Type="http://schemas.openxmlformats.org/officeDocument/2006/relationships/notesSlide"/><Relationship Id="rId88" Target="notesSlides/notesSlide40.xml" Type="http://schemas.openxmlformats.org/officeDocument/2006/relationships/notesSlide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聊一个很有意思的技术——FAST-LIVO2。它的核心问题是：一个机器人在完全陌生的环境里，怎么同时做到知道自己在哪、周围长什么样、并且把这一切实时画成一张地图？我们会用最通俗的方式，把整个过程拆开来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这是我们今天的学习路线。一共五个部分：先搞清楚问题是什么，再看数据怎么进来，然后分别拆解激光雷达和摄像头的处理方法，最后看它们怎么融合成一张地图。第四部分视觉处理是重点，会花比较多时间。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想一个问题：把你蒙住眼睛带到一个完全陌生的房间，你怎么知道自己在哪、房间长什么样？你可能会用手摸墙壁（激光雷达）、用脚感受步幅和转身（IMU）、偶尔掀开眼罩看一眼（相机）。机器人做的事情本质上一样，只是更精确、更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LAM是整个领域的基础概念。简单说就是一边走一边画地图。难点在于定位和建图互相依赖，就像鸡生蛋问题。没有好的定位，画出来的地图是歪的；没有准确的地图，又没法确认自己在哪。多传感器融合就是解决这个问题的关键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种传感器就像一个团队的三个队员。激光雷达是精确的测量员，但它看不到颜色，在隧道里会犯愁；IMU是反应最快的短跑选手，但闭着眼跑久了会跑偏；相机是观察力最强的观察员，但它没法单靠一张照片知道距离。把它们组合在一起，就能取长补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是论文原文的系统总览图，也是整个系统的鸟瞰图。从左到右看：三种传感器数据先做时间同步，IMU做高频前向传播给出一个大概位姿，接着激光雷达做点到平面的配准来粗修正，最后用摄像头的光度信息做精修。激光和视觉共用同一张体素地图，法向细化在独立线程里持续优化平面法向。最终输出精确的位姿和彩色点云地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时间同步是整个系统的第一步，也是最容易被忽略但最关键的一步。想象三个人用不同速度跑步，要让他们在同一时刻的位置对齐才能比较。FAST-LIVO2选择用图像时刻作为锚点，因为图像更新频率适中，且视觉处理需要精确的时刻对齐。LiDAR扫描是旋转的，一帧里每个点采集时间不同，所以要按时间戳切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MU做两件事：前向传播和后向传播。前向传播就是从上一帧的已知状态，用IMU的加速度和角速度积分，推算出当前大概的位姿——这给后续激光和视觉更新提供一个"初值"。后向传播是给点云去抖动，因为激光雷达转一圈需要时间，期间机器人在动，不处理的话点云会糊。两者都依赖IMU的高频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前向传播的三个公式拆开讲。公式3是连续时间的微分方程，描述状态怎么随时间变化。公式4是离散化后的实际计算，每个IMU数据点推进一步，注意旋转用指数映射而不是加法。公式5是协方差传播，F描述旧误差怎么传过来，Q描述IMU噪声带来多少新不确定性。一帧扫描内有10-25个IMU点，逐步推进到终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矩阵的核心是对运动学方程求误差扰动。比如旋转误差的变化率不仅和自身有关，还受陀螺偏置误差影响；速度误差的变化率受旋转误差（因为加速度方向会偏）、加计偏置误差和重力误差共同影响。Q矩阵则把IMU的4类噪声通过映射矩阵G传到19维状态，注意位置和曝光时间没有直接的过程噪声，它们的不确定性是从其他状态间接传播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个数学工具是理解IMU积分的关键。反对称矩阵把三维向量变成3×3矩阵，这样叉乘就能写成矩阵乘法，而矩阵乘法是可以求导的，这对ESIKF的雅可比计算至关重要。指数映射则解决了旋转不能直接相加的问题——角速度乘以时间得到的是李代数小量，必须通过指数映射变回合法的旋转矩阵。罗德里格斯公式就是矩阵指数在反对称矩阵上的简化形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激光雷达更新是第一次修正位姿。关键创新是"直接法"——不提取任何特征，原始点直接匹配地图平面。每个点计算到最近平面的距离，几千个距离汇总成一个优化问题，用迭代卡尔曼滤波器求解。整个过程最多迭代5次，OpenMP并行处理，非常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体素地图是整个系统的核心数据结构，激光和视觉共用。它把空间切成0.5米的大积木，每个积木里再自适应细分。关键设计是"成熟平面冻结"——一旦平面参数稳定了就不再更新，这样地图不会漂移，而且查询速度快。视觉地图点就挂在这些平面上，实现一套数据两种用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体素地图的两层结构各有分工。哈希表解决"空间这么大，怎么高效存和找"的问题——只存有激光点的地方，查找O(1)。八叉树解决"同一个0.5m体素里可能有多个平面"的问题——大平面不用细分，墙角等复杂结构按需切到0.125m。max_layer=2意味着最多细分两次，最细体素0.125m。论文写默认3层，但代码avia.yaml配置是2层，这是论文与代码的差异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这一页回答体素地图叶节点分辨率。核心公式是0.5除以2的max_layer次方，得到0.125米。重点提醒论文写3层但代码配2层这个差异，让观众知道实际运行以代码为准。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平面协方差是概率性体素地图的核心。每个平面不仅存法向和中心，还存一个6×6的不确定度矩阵。计算分四步：先算统计量，再特征值分解得法向，然后用特征值扰动理论算出法向对每个点的雅可比，最后通过雅可比传播把点的位置不确定度累积成平面的不确定度。这个协方差在ESIKF更新时用来动态计算测量噪声R——平面越靠谱权重越大，点离平面中心越远权重越小，实现了自适应加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这一页深入讲特征值扰动理论。核心是让观众理解：平面法向量的不确定度约等于1除以特征值间隔的平方。平面越扁法向量越准，越鼓越飘。最后讲这个协方差的两个实际用途：动态噪声R和外点剔除。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整个PPT的重点章节。很多人会问：激光雷达已经能测距定位了，为什么还要相机？答案是激光雷达在隧道、长廊这种几何结构单一的地方会退化，而相机能看到墙上的标识、地面的车道线这些纹理信息。但相机的难题是：2D照片没有深度，怎么用？FAST-LIVO2的做法非常巧妙——不提取ORB/FAST这些特征点，而是直接比较像素的亮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视觉处理的第一个核心概念：直接法。传统视觉SLAM要先找ORB角点再匹配，但FAST-LIVO2不走这条路。它直接比较像素亮度——同一个东西从不同角度拍，亮度应该一样。如果不一样，就说明位姿估错了。这个思想叫"光度一致性"，是整个视觉模块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视觉地图点怎么检索。FAST-LIVO2不从图像提取特征点，而是直接复用LiDAR地图点作为视觉地图点，每个点挂上8乘8的参考图像块。检索分三步：第一步可见体素查询，不遍历全图，只查当前激光击中的体素和上一帧可见的体素，用哈希表快速定位；第二步按需射线投射，当激光有近距盲区或者相机视野超出激光范围时，把图像分成30乘30的网格，对空网格沿中心像素向后投射射线找地图点；第三步三重外点剔除，包括遮挡、深度不连续和视角过大。下方左图是论文的外点剔除效果图，红点是被剔除的点绿点是保留的；右图是窄走廊里的射线投射实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这一页讲视觉点的管理细节。三个卡片分别讲Patch规格、参考块更新、单节点挂点数量。底部重点强调统一地图的设计——视觉点不是独立存储，而是挂在体素叶节点上，和几何平面共享空间索引。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这一页用六步流程图讲视觉点的筛选条件。从投影有效性开始，经过纹理检测、几何检查、体素归属、去重、网格采样，最后通过的点才挂到体素上。重点是纹理检测是最关键的一关，网格采样控制全局数量。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仿射变换，是视觉对齐的关键。左边是论文原图，展示了参考Patch如何通过仿射矩阵变换到当前帧。核心公式是论文的公式13：A等于投影矩阵P乘以（旋转R加平移t乘以外积项）再乘以P的逆。这里的平面法向n来自LiDAR，这就是为什么FAST-LIVO2要用激光雷达——它给视觉提供了精确的平面先验。三种方法对比很重要：不用平面先验的恒定深度假设会漂移0.22米回不到起点，用了平面先验漂移小于1厘米，再用法向细化纹理最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平面先验仿射矩阵是FAST-LIVO2视觉精度的关键。5步流程中，第2步射线-平面求交是核心——它利用LiDAR给出的平面法向，为patch的每个角点精确计算深度，而不是简单假设所有像素深度相同。这样投影到当前帧后，倾斜平面会变成梯形，反映真实的透视形变。对比恒定深度假设，平面先验在近距离和大视角场景下光度残差显著更小，ESIKF收敛更快。仿射矩阵算出来之后，还要做扭曲采样和光度残差计算，才进入ESIKF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整个视觉处理的核心方程——论文公式21。注意完整公式里有Δu，这是Patch内每个像素相对中心点的偏移，遍历8乘8等于64个像素。之前的简化版漏掉了这个项。公式的意思是：当前帧在u_i加Δu位置的亮度乘当前曝光时间，减去参考帧在u_i'加A乘Δu位置的亮度乘参考曝光时间，理想情况下应该等于0。如果不等于0，说明位姿有偏差。雅可比用链式法则分三步：图像梯度、投影雅可比、3D点对位姿扰动的导数。视觉更新的收敛条件比激光更严格，旋转要小于0.001度，因为要达到像素级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这一页用最通俗的方式解释公式21。核心就是老照片亮度减新照片亮度等于残差。用火车拍树的比喻让观众理解，最后讲ESIKF如何通过最小化残差来修正位姿。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两个精度提升技巧。第一个是在线曝光时间估计：把逆曝光时间τ加入状态向量一起估计，雅可比就是当前像素亮度，几乎零计算成本，但能有效应对光照变化。第二个是法向细化加参考块动态更新：LiDAR给的平面法向有噪声，在独立线程里用光度误差进一步优化法向，对应论文公式14。参考块不是固定的，当有多个观测时，选平均光度误差最小的那个作为参考，还用NCC和视角余弦综合评分动态更新。下方是论文原图Fig.S3，展示了参考块更新和法向收敛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这一页通俗解释公式14曝光时间估计。核心是运动模糊的概念，用数字例子让观众直观感受10ms曝光会糊多少像素。最后讲完整逻辑链和ESIKF如何在线估计τ。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融合策略。FAST-LIVO2用的是误差状态迭代卡尔曼滤波器，简称ESIKF。状态向量20维，包括姿态、位置、速度、两个零偏、重力和曝光时间，误差状态是19维因为旋转用3维向量表示。核心创新是顺序更新：先做LiDAR的点到平面残差更新做粗修正，再做Visual的光度残差更新做精修，两者共用同一个状态向量。这样解决了LiDAR只有数百个点而Visual有数万残差的维度不匹配问题。另外它用的是迭代EKF，每次迭代重新线性化，还有一个先验拉回项防止状态漂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深入解释ESIKF这个核心概念。三个关键词拆开理解：误差状态是为了优雅处理旋转，迭代是为了在强非线性下更精确，卡尔曼是经典的预测更新框架。19维状态向量里，逆曝光时间τ是视觉特有的，陀螺和加计偏置是IMU漂移的根源，重力在初始化时对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统一地图是FAST-LIVO2的核心设计之一。传统方案往往维护两张地图——LiDAR建一张几何图，视觉建一张特征图，然后不断对齐，误差会积累。FAST-LIVO2只用一张体素地图：LiDAR负责构建几何平面，视觉在LiDAR点上附加图像块。这样几何先验可以直接喂给视觉做仿射变换，视觉又可以反哺几何细化法向，形成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总结了FAST-LIVO2相对于前代FAST-LIVO的五个核心创新。第一是把异步更新改成ESIKF顺序更新，解决了异构数据维度不匹配的问题。第二是用LiDAR平面先验做仿射变换，并进一步用光度信息细化法向，精度提升非常大。第三是参考块不再选最近的，而是用NCC加视角评分选最好的。第四是在线估计曝光时间应对光照变化。第五是按需射线投射填补LiDAR盲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创新点是ESIKF顺序更新框架。前代FAST-LIVO用异步更新，LiDAR和视觉在各自线程跑两个滤波器，状态维度不一样（视觉多了曝光时间），需要复杂的同步机制，容易出问题。FAST-LIVO2改成单一19维状态向量，先跑LiDAR更新再跑视觉更新，两次更新共享同一个状态和协方差，第一次的结果作为第二次的先验。这样就没有状态同步问题，也没有维度不匹配。注意视觉更新的收敛阈值比LiDAR严格10倍，因为视觉测量更精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创新点是统一体素地图。传统方案中LiDAR地图和视觉地图是分开维护的，比如LiDAR用体素/ikd-tree，视觉用特征点数据库，两套索引需要同步。FAST-LIVO2把几何层（平面）和视觉层（图像块）挂在同一个哈希表+八叉树上。视觉点的3D位置直接来自LiDAR，不需要三角化，法向来自平面拟合。两层互相增强——LiDAR给视觉提供深度和几何先验，视觉给LiDAR提供纹理约束。这就是紧耦合的地图层面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创新点是稀疏直接视觉测量。传统视觉SLAM用特征点法，只利用图像中约5%的角点信息，在纹理缺失区域完全失效。FAST-LIVO2用直接法，不提取特征点，直接比较像素灰度。关键是视觉点的3D位置来自LiDAR，不需要三角化，所以可以在低纹理区域工作。处理流程是金字塔迭代——从低分辨率粗对齐到高分辨率精对齐，每个点用平面先验算仿射变换扭曲参考块，然后计算64个像素的光度残差，通过链式法则算雅可比进入ESIKF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创新点包含两个相关技术：平面先验仿射变换和法向细化。平面先验利用LiDAR给出的平面法向，让仿射变换能反映真实的透视形变（倾斜平面投影成梯形），而不是简单的恒定深度假设。法向细化则是每次视觉更新后，用新的位姿从体素地图重新获取更精确的平面法向。两者形成正反馈循环——LiDAR平面越准，视觉仿射越准，位姿越准，LiDAR去畸变越准，平面又更准。这就是紧耦合的地图层面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个创新点是在线曝光时间估计。直接法的基本假设是灰度不变，但实际中相机自动曝光会导致不同帧曝光时间不同，同一点的灰度值会变化，产生系统性残差。FAST-LIVO2把逆曝光时间τ加入19维状态向量，参考块和当前块都乘以各自的τ做归一化，这样就消除了曝光差异。τ在ESIKF中与位姿联合估计，随机游走模型，过程噪声0.1。雅可比中多了一项对τ的导数，就是当前块的灰度值。这样从暗环境走到亮环境时，τ自动调整，光度残差不会被光照变化污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AST-LIVO2有三个主要应用方向。第一是无人机机载导航——它的直接法设计非常轻量，在ARM平台上能实时运行，这对无人机至关重要。第二是航空测绘——输出的彩色点云地图精度高、纹理清晰，法向细化让地面文字和车道线都能看清。第三是3D模型渲染——重建的密集地图可以直接用于Mesh重建或NeRF渲染，几何和颜色天然对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总结一下整个流程。一个处理周期分七步：时间同步、IMU前向传播、点云去畸变、LiDAR更新、视觉检索、视觉更新、地图更新。核心思想就是：IMU打底猜位置，激光雷达摸几何做粗修正，摄像头看纹理做精修，三者共用一张地图，紧耦合融合。这就是FAST-LIVO2如何让机器人在陌生环境中同时知道自己在哪、周围长什么样、并把这一切画成地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给大家提供一些延伸资源。论文可以在arXiv上搜索2408.14035找到，代码在GitHub上开源，由香港大学MaRS实验室维护。如果想深入了解，可以先看FAST-LIO2（只有激光和IMU），再看FAST-LIVO（初代三传感器融合），最后看FAST-LIVO2，这样循序渐进更容易理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326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TECHNICAL DEEP DIVE · 技术科普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667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全景解析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06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机器人如何同时看路、辨向、建图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1016026" y="494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5207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AB4C3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 · 惯性测量单元 · 相机 三种传感器的紧耦合融合之旅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6096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香港大学 MaRS 实验室 · 开源项目 · 2024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LEARNING ROADMAP · 学习路线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7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我们将沿着这五条线索展开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3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2225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22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认识问题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2603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什么是SLAM，三种传感器各能做什么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2225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0" y="222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数据入场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66000" y="2603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时间同步、IMU预测、点云去畸变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429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3429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激光雷达配准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778000" y="3810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不提取特征，原始点云如何对齐地图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429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0" y="3429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视觉处理（重点）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66000" y="3810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直接法、仿射变换、光度误差、曝光估计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6355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78000" y="4635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融合与建图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78000" y="5016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顺序更新、统一地图、五大创新与应用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297" flipH="false" flipV="false">
            <a:off x="1016004" y="570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596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核心问题贯穿始终：机器人如何在陌生环境中，同时知道自己在哪、周围长什么样、并把这一切画成地图？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 · 认识问题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651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机器人在陌生环境里，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到底是怎么认路的？</a:t>
            </a:r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没有 GPS</a:t>
            </a:r>
            <a:r>
              <a:rPr lang="en-US" b="false" i="false" strike="noStrike" u="none" sz="15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，室内、隧道、地下怎么定位？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393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光线昏暗</a:t>
            </a:r>
            <a:r>
              <a:rPr lang="en-US" b="false" i="false" strike="noStrike" u="none" sz="15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、纹理缺失，相机看不清怎么办？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393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走歪了</a:t>
            </a:r>
            <a:r>
              <a:rPr lang="en-US" b="false" i="false" strike="noStrike" u="none" sz="15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、传感器漂移，怎么及时纠正？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58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A0AAB9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的回答是：让三种传感器取长补短，像一个团队一样协同工作。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CONCEPT · 核心概念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SLAM？一边走路，一边画地图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0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8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通俗比喻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730500"/>
            <a:ext cx="431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想象你被蒙眼带进一个陌生房间。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你一边摸索着往前走（</a:t>
            </a: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定位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：我现在在哪），一边在脑子里画出房间的形状（</a:t>
            </a: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建图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：周围有什么）。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这两件事必须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同时做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——知道位置才能画对地图，有了地图才能确认位置。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0955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28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技术定义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730500"/>
            <a:ext cx="431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SLAM =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S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imultaneous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L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ocalization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nd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apping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同步定位与建图。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机器人在未知环境中，一边估算自身位姿（位置+朝向），一边构建环境的空间地图，两者互相依赖、交替推进。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16500"/>
            <a:ext cx="10160000" cy="1270000"/>
          </a:xfrm>
          <a:prstGeom prst="roundRect">
            <a:avLst>
              <a:gd name="adj" fmla="val 800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5207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先有鸡还是先有蛋？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5588000"/>
            <a:ext cx="965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定位需要地图来比对，建图需要定位来拼接。SLAM 的核心难题就是这个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鸡生蛋问题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——FAST-LIVO2 用多种传感器交叉验证来打破这个死循环。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SENSORS · 三种传感器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三个队员，各有所长，也各有短板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0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3213100" cy="4064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22500"/>
            <a:ext cx="27051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603500"/>
            <a:ext cx="27051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LiDAR · 10~100Hz · 每秒数万点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6139" flipH="false" flipV="false">
            <a:off x="1270015" y="29781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FA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270000" y="3111500"/>
            <a:ext cx="270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擅长：精确测距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3429000"/>
            <a:ext cx="27051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发射激光束测量距离，能精确知道障碍物有多远，厘米级精度。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4318000"/>
            <a:ext cx="270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短板：没有颜色，怕隧道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635500"/>
            <a:ext cx="27051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点云是黑白的，没有纹理颜色。在长廊、隧道里四面都是墙，几何信息不够会迷路。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83100" y="2032000"/>
            <a:ext cx="3213100" cy="4064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37100" y="2222500"/>
            <a:ext cx="27051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惯性测量单元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37100" y="2603500"/>
            <a:ext cx="27051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IMU · 100~250Hz · 加速度+角速度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6139" flipH="false" flipV="false">
            <a:off x="4737115" y="29781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872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737100" y="3111500"/>
            <a:ext cx="270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擅长：高频反应快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737100" y="3429000"/>
            <a:ext cx="27051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每秒测量100~250次加速度和旋转，能捕捉快速运动，两次激光扫描之间靠它推算位置。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37100" y="4318000"/>
            <a:ext cx="270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短板：会越漂越远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37100" y="4635500"/>
            <a:ext cx="27051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纯靠积分推算位置，小误差会不断累积，就像闭着眼走路，走久了一定偏。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62900" y="2032000"/>
            <a:ext cx="3213100" cy="4064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16900" y="2222500"/>
            <a:ext cx="27051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相机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16900" y="2603500"/>
            <a:ext cx="27051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Camera · 10~50Hz · 彩色图像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6139" flipH="false" flipV="false">
            <a:off x="8216915" y="29781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7A5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216900" y="3111500"/>
            <a:ext cx="270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擅长：纹理丰富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16900" y="3429000"/>
            <a:ext cx="27051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能看到颜色、文字、图案，信息密度高。隧道里墙上的标识、地面的车道线都能帮上忙。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16900" y="4318000"/>
            <a:ext cx="270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短板：单张图不知道距离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16900" y="4635500"/>
            <a:ext cx="27051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照片是2D的，单张照片无法直接知道物体有多远。低光照、运动模糊也会让它失效。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FRAMEWORK · 整体框架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736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一图看懂 FAST-LIVO2 的工作流程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26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73" r="73" t="0" b="0"/>
          <a:stretch>
            <a:fillRect/>
          </a:stretch>
        </p:blipFill>
        <p:spPr>
          <a:xfrm rot="0" flipH="false" flipV="false">
            <a:off x="1016000" y="1460500"/>
            <a:ext cx="10160000" cy="2971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457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四种传感器异步输入 → IMU前向传播给出位姿初值 → LiDAR点云重组后做点到平面配准（粗修正）→ 视觉稀疏直接法做光度对齐（精修）→ 统一体素地图同时管理几何与视觉信息 → 法向细化在独立线程持续优化。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5588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III System Overview, Figure 1（本图为论文原图）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LIVMapper.cpp::sync_packages() 时间同步 ~L950；IMU_Processing.cpp::Process2() 前向传播 ~L543；voxel_map.cpp::StateEstimation() LiDAR更新 ~L338；vio.cpp::processFrame() 视觉更新 ~L1770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传感器频率：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IMU 100~250Hz / LiDAR 10~100Hz / Camera 10~50Hz（论文Figure 2标注范围）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· 数据入场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第一步：把三种数据对齐到同一时刻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问题：三个传感器的"心跳"完全不一样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349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IMU · 200Hz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6924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 5 毫秒测一次加速度和旋转，像一个不停报数的短跑选手，数据最密。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3492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LiDAR · 10Hz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8354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 100 毫秒扫一圈，一帧点云里每个点的采集时刻都不同（旋转扫描需要时间）。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508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4635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Camera · 30Hz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9784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 33 毫秒拍一张，曝光需要时间，图像是一个"时间段"的积分而非"时刻"的快照。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715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E8720C">
              <a:alpha val="10000"/>
            </a:srgbClr>
          </a:solidFill>
          <a:ln w="12700" cmpd="sng" cap="flat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70000" y="5842000"/>
            <a:ext cx="965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解决方法：</a:t>
            </a:r>
            <a:r>
              <a:rPr lang="en-US" b="fals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图像曝光中心时刻</a:t>
            </a:r>
            <a:r>
              <a:rPr lang="en-US" b="fals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为锚点，把跨越该时刻的 LiDAR 扫描"切一刀"分成前后两半，前半归入当前帧，后半留给下一帧。IMU 数据则按时间段提取。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· IMU 预测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第二步：IMU 先"猜"一个当前位置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68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前向传播：从已知推未知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0417" flipH="false" flipV="false">
            <a:off x="1270010" y="2406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270000" y="2603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就像闭着眼凭感觉走一步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29845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上一帧结束时，我们知道机器人的位置、速度、朝向。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从那一刻到现在，IMU 测了 N 次加速度和旋转。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把这些测量</a:t>
            </a:r>
            <a:r>
              <a:rPr lang="en-US" b="tru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积分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起来，就能推算出当前大概在哪、朝哪、速度多少。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445000"/>
            <a:ext cx="4191000" cy="1651000"/>
          </a:xfrm>
          <a:prstGeom prst="roundRect">
            <a:avLst>
              <a:gd name="adj" fmla="val 4615"/>
            </a:avLst>
          </a:prstGeom>
          <a:solidFill>
            <a:srgbClr val="E8720C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60500" y="4572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推算的状态（20个数字）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4927600"/>
            <a:ext cx="3810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姿态（3）· 位置（3）· 速度（3）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陀螺仪零偏（3）· 加速度计零偏（3）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重力向量（3）· 逆曝光时间（1）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外加一个 19×19 的不确定性矩阵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778000"/>
            <a:ext cx="5080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968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后向传播：给点云"去抖动"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549" flipH="false" flipV="false">
            <a:off x="6350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350000" y="2603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为什么点云会"糊"？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2984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LiDAR 旋转扫描一帧需要时间，这段时间机器人在动。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如果不处理，一帧里的点是在</a:t>
            </a:r>
            <a:r>
              <a:rPr lang="en-US" b="tru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不同位置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采集的，拼在一起就会模糊变形。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445000"/>
            <a:ext cx="4572000" cy="1651000"/>
          </a:xfrm>
          <a:prstGeom prst="roundRect">
            <a:avLst>
              <a:gd name="adj" fmla="val 4615"/>
            </a:avLst>
          </a:prstGeom>
          <a:solidFill>
            <a:srgbClr val="4A6FA5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40500" y="45720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怎么去畸变？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4927600"/>
            <a:ext cx="419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从帧尾时刻</a:t>
            </a:r>
            <a:r>
              <a:rPr lang="en-US" b="tru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反向</a:t>
            </a: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遍历每个点的采集时刻。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IMU 位姿，把每个点从它的采集时刻"搬"到帧尾时刻。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结果：整帧点云仿佛在同一瞬间拍摄，清晰不变形。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MATH DETAIL · 数学详解 | 论文 Section IV-C 公式(3)-(5)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前向传播：用 IMU 从扫描起点积分到终点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公式(3) 连续时间运动学模型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81200"/>
            <a:ext cx="5334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082800"/>
            <a:ext cx="5080000" cy="162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Ṙ = R · ⌊ω_m - b_g⌋× (姿态由角速度积分)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ṗ = v (位置由速度积分)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v̇ = R(a_m - b_a) + g (速度由加速度积分,含重力)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ḃ_g = 0, ḃ_a = 0 (偏置随机游走,导数为0)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ġ = 0, τ̇ = 0 (重力和曝光时间不变)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公式(4) 离散时间积分（每IMU步Δt）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81200"/>
            <a:ext cx="5080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02400" y="2082800"/>
            <a:ext cx="4826000" cy="162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R_{i+1} = R_i · Exp((ω_i - b_g)Δt)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v_{i+1} = v_i + (R_i(a_i-b_a)+g)Δt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p_{i+1} = p_i + v_iΔt + ½(R_i(a_i-b_a)+g)Δt²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旋转用指数映射Exp()，不是矩阵加法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保证积分后仍是正交旋转矩阵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624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公式(5) 协方差传播：P_k^- = F·P_{k-1}·F^T + Q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318000"/>
            <a:ext cx="5080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4419600"/>
            <a:ext cx="48260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 状态转移矩阵</a:t>
            </a: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（19×19）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对运动学模型求误差扰动的雅可比，再离散化 F = I + F_c·Δt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描述"上一时刻的误差如何传播到当前时刻"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关键项：旋转误差 R^T，速度误差对旋转 -R⌊a⌋×Δt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0" y="4318000"/>
            <a:ext cx="5334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48400" y="4419600"/>
            <a:ext cx="50800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Q 过程噪声协方差</a:t>
            </a: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（19×19）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IMU白噪声和偏置随机游走经噪声映射G变换、按Δt离散化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Q = G·Q_c·G^T·Δt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非零块：陀螺噪声→旋转不确定度，加计噪声→速度不确定度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配置：gyr_cov=0.3, acc_cov=0.5, b_gyr_cov=0.0001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6172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代码对应：LIVMapper.cpp prop_imu_once() (状态积分) · IMU_Processing.cpp Process2() (协方差传播) · avia.yaml (噪声参数)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MATH DERIVATION · 数学推导 | 误差状态 δx = [δθ,δp,δτ,δv,δb_g,δb_a,δg]^T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F 矩阵和 Q 矩阵是怎么来的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F 矩阵推导：连续时间误差动力学 → 离散化 F = I + F_c·Δt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55800"/>
            <a:ext cx="106680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057400"/>
            <a:ext cx="10414000" cy="180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δθ̇ = -⌊ω̂⌋×·δθ - δb_g → F行0: [R^T, 0, 0, 0, -IΔt, 0, 0]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δṗ = δv → F行1: [0, I, 0, IΔt, 0, 0, 0]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δτ̇ = 0 → F行2: [0, 0, 1, 0, 0, 0, 0]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δv̇ = -R⌊â⌋×·δθ - R·δb_a + δg → F行3: [-R⌊â⌋×Δt, 0, 0, I, 0, -RΔt, IΔt]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δḃ_g = 0, δḃ_a = 0, δġ = 0 → F行4-6: 对角块为I（随机游走保持不变）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其中 ω̂ = ω_m - b_g（扣除偏置的角速度），â = a_m - b_a（扣除偏置的加速度）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列顺序：δθ(3), δp(3), δτ(1), δv(3), δb_g(3), δb_a(3), δg(3) → 共19维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148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Q 矩阵推导：噪声源 → 噪声映射G → 离散化 Q = G·Q_c·G^T·Δt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419600"/>
            <a:ext cx="50800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" y="4521200"/>
            <a:ext cx="482600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5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4类噪声源</a:t>
            </a: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η_g 陀螺白噪声 → 旋转不确定度 σ_g²Δt·I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η_a 加计白噪声 → 速度不确定度 σ_a²Δt·RR^T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η_bg 陀螺偏置随机游走 → σ_bg²Δt·I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η_ba 加计偏置随机游走 → σ_ba²Δt·I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441960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4521200"/>
            <a:ext cx="508000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5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噪声映射G（19×12）</a:t>
            </a: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角速度噪声 → 直接进入δθ（行0: -I）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加速度噪声 → 经R变换进入δv（行3: -R）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偏置随机游走 → 直接进入δb_g/δb_a（行4/5: I）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位置、曝光时间、重力无直接噪声输入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6172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代码对应：IMU_Processing.cpp (F/Q构建与协方差传播) · avia.yaml: gyr_cov=0.3, acc_cov=0.5, b_gyr_cov=0.0001, b_acc_cov=0.0001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MATH TOOLKIT · 数学工具 | SO(3) 旋转计算的两个标配工具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反对称矩阵算子 ⌊·⌋× 与 指数映射 Exp()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反对称矩阵算子 ⌊v⌋×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860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v = [v_x, v_y, v_z]^T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⌊v⌋× = [0 -v_z v_y]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[v_z 0 -v_x]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[-v_y v_x 0]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作用：把叉乘写成矩阵乘法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a × b = ⌊a⌋× · b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好处：叉乘不是标准线性运算，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写成矩阵后可求导、可泰勒展开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526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26200" y="1879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指数映射 Exp(φ) = 罗德里格斯公式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26200" y="22860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φ的方向=旋转轴，|φ|=旋转角度θ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Exp(φ) = exp(⌊φ⌋×)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= I + (sinθ/θ)⌊φ⌋×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+ ((1-cosθ)/θ²)⌊φ⌋×²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为什么需要：旋转矩阵不能直接加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R_new ≠ R_old + ω·Δt（不正交）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正确做法：R_new = R_old · Exp(ω·Δt)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保证结果仍是合法旋转矩阵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212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6482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两者配合：IMU 旋转积分的完整链路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5003800"/>
            <a:ext cx="10287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IMU角速度 ω_m → 扣除偏置 ω = ω_m - b_g → 反对称化 ⌊ω·Δt⌋× → 矩阵指数 exp() = Exp(ω·Δt) → 右乘更新 R ← R · Exp(ω·Δt)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反对称矩阵让叉乘能写成矩阵乘法（方便求导），指数映射让角速度增量正确变成旋转矩阵（保证正交），两者是 SO(3) 计算的标配。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代码对应：common_lib.h Exp() 函数 · LIVMapper.cpp prop_imu_once() 中 "M3D Exp_f = Exp(angvel_avr, dt)"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· LiDAR 更新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第三步：激光雷达如何"认出"熟悉的环境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05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传统做法 vs FAST-LIVO2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3495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先提取"特征"——墙角、边缘、平面，再匹配特征点。耗时且容易漏检。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不提取任何特征，每个原始点直接去找地图里最近的局部平面，算"点到平面的距离"。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14500"/>
            <a:ext cx="5080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05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点到平面距离怎么用？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3495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如果位姿完全正确，每个点应该正好落在对应的平面上，距离为 0。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距离不为 0，说明位姿有偏差。把几千个点的距离汇总起来，就能算出该怎么调整位姿。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迭代最多 5 次，直到调整量小到可以忽略。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127500"/>
            <a:ext cx="10160000" cy="2286000"/>
          </a:xfrm>
          <a:prstGeom prst="roundRect">
            <a:avLst>
              <a:gd name="adj" fmla="val 4444"/>
            </a:avLst>
          </a:prstGeom>
          <a:solidFill>
            <a:srgbClr val="4A6FA5">
              <a:alpha val="6000"/>
            </a:srgbClr>
          </a:solidFill>
          <a:ln w="12700" cmpd="sng" cap="flat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3180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一次迭代的完整流程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97000" y="4889500"/>
            <a:ext cx="457200" cy="4572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97000" y="49530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68500" y="49276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变换点云到世界系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5925" flipH="false" flipV="false">
            <a:off x="3873579" y="51117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6FA5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445000" y="4889500"/>
            <a:ext cx="457200" cy="4572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45000" y="49530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16500" y="49276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查最近平面算距离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5925" flipH="false" flipV="false">
            <a:off x="6921579" y="51117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6FA5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493000" y="4889500"/>
            <a:ext cx="457200" cy="4572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93000" y="49530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64500" y="49276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组装方程求解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85925" flipH="false" flipV="false">
            <a:off x="9588579" y="51117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6FA5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10160000" y="4889500"/>
            <a:ext cx="457200" cy="4572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0" y="49530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779000" y="5461000"/>
            <a:ext cx="127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更新位姿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270000" y="57785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2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第 2 步使用 OpenMP 并行加速（几千个点同时查地图）；第 3 步用信息矩阵形式的卡尔曼增益，避免大矩阵求逆。收敛条件：旋转变化小于 0.01 度且平移小于 0.015 厘米。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MAP · 体素地图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体素地图：把环境切成"数字积木"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05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地图长什么样？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0417" flipH="false" flipV="false">
            <a:off x="1270010" y="2343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270000" y="2540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哈希表 + 八叉树的混合结构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0226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空间切成0.5米根体素，哈希表快速查找。每个根体素内八叉树自适应细分，最多2层（config: max_layer=2），直到点能拟合成平面。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254500"/>
            <a:ext cx="4191000" cy="1968500"/>
          </a:xfrm>
          <a:prstGeom prst="roundRect">
            <a:avLst>
              <a:gd name="adj" fmla="val 3870"/>
            </a:avLst>
          </a:prstGeom>
          <a:solidFill>
            <a:srgbClr val="4A6FA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60500" y="43815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每个叶节点存什么？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47244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中心点坐标（平面位置）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法向量（平面朝向）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协方差矩阵（平面不确定度）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成熟标志（参数稳定后冻结，不再更新）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视觉地图点列表（附加的图像块）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714500"/>
            <a:ext cx="5080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905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新点来了怎么处理？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549" flipH="false" flipV="false">
            <a:off x="6350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477000" y="2603500"/>
            <a:ext cx="355600" cy="3556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6543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59600" y="26289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按坐标散入对应根体素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3111500"/>
            <a:ext cx="355600" cy="3556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1623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59600" y="31369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SVD 分解检验是否构成平面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3619500"/>
            <a:ext cx="355600" cy="3556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6703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59600" y="3644900"/>
            <a:ext cx="381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是平面 → 估计参数；不是 → 细分成 8 个子体素递归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381500"/>
            <a:ext cx="355600" cy="3556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44323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59600" y="4406900"/>
            <a:ext cx="381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参数收敛 → 标记"成熟"，后续新点直接丢弃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549" flipH="false" flipV="false">
            <a:off x="6350009" y="520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350000" y="53340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200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地图滑窗：只维护以当前位置为中心的固定大小立方体区域，超出范围的体素被移除，内存回收给新区域。保证内存占用恒定。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MAP STRUCTURE · 地图结构 | 论文 Section V-A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哈希表 + 八叉树：稀疏空间的按需精细细分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第一层：哈希表（稀疏存储 + O(1)查找）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key: VOXEL_LOCATION (x,y,z整数坐标，每格0.5m)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value: VoxelOctoTree* (八叉树根节点指针)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为什么用哈希表：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环境中绝大部分空间没有激光点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只有被点击中的体素才创建条目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给定3D点，除以0.5取整得key，直接查找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不需要预设地图边界，走到哪建到哪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第二层：八叉树（按需细分，max_layer=2）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0: 根体素 0.5m（1个）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1: 子体素 0.25m（最多8个）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2: 孙体素 0.125m（最多64个，最细层）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细分条件：当前体素点拟合成不了平面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（最小特征值 ≥ 阈值0.0025）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且 layer &lt; max_layer → 切8个子体素递归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已拟合平面 → 停止细分，存平面{n,c,Σ}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10668000" cy="1651000"/>
          </a:xfrm>
          <a:prstGeom prst="roundRect">
            <a:avLst>
              <a:gd name="adj" fmla="val 6153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318000"/>
            <a:ext cx="1028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查找流程 find_correspond(p)：给一个点，找它匹配哪个平面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724400"/>
            <a:ext cx="10287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哈希查找根体素（p/0.5取整 → key）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进入八叉树：当前节点是平面？或达到max_layer？→ 返回当前节点的平面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否则根据点在体素内的相对位置，进入对应子体素（8选1），递归查找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返回的平面用于计算点到平面残差 r = n^T(p - c)，进入ESIKF更新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 (Unified Voxel Map) · 代码对应：voxel_map.h VoxelMapManager/VoxelOctoTree, voxel_map.cpp init_octo_tree/cut_octo_tree/find_correspond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MAP RESOLUTION · 地图分辨率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体素地图叶节点分辨率是多少？怎么算的？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两个配置参数决定分辨率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avia.yaml 配置：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voxel_size = 0.5 m（基础体素边长）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max_layer = 2（八叉树最大细分层数）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八叉树每细分一层，边长减半：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叶节点分辨率 = voxel_size / 2^max_layer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= 0.5 / 2² =</a:t>
            </a: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0.125 m（12.5 cm）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三层节点的分辨率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0（根/哈希键）：0.5 m × 0.5 × 0.5 m³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1（中间层）：0.25 m × 0.25 × 0.25 m³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2（叶节点）：</a:t>
            </a: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0.125 m × 0.125 × 0.125 m³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叶节点才存储平面参数和视觉点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根节点和中间层只做空间索引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402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2672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注意：论文与代码的差异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622800"/>
            <a:ext cx="1028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论文 Section IX-A 文字描述默认写的是</a:t>
            </a: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3 层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（对应叶节点 0.0625 m），但官方代码 avia.yaml 实际配置为</a:t>
            </a: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max_layer: 2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（叶节点 0.125 m）。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这是论文与代码的差异之一，已在翻译文档附录中标注。实际运行以代码配置为准。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V-A, IX-A | 代码对应：config/avia.yaml (voxel_size, max_layer), voxel_map.h (VoxelMap类)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PLANE UNCERTAINTY · 平面不确定度 | 论文 Section V-A, 代码 voxel_map.cpp init_plane()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平面协方差 Σ_{n,c}：告诉系统"这个平面靠不靠谱"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01800"/>
            <a:ext cx="2540000" cy="1016000"/>
          </a:xfrm>
          <a:prstGeom prst="roundRect">
            <a:avLst>
              <a:gd name="adj" fmla="val 750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1803400"/>
            <a:ext cx="2336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1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算中心 c 和散布矩阵 S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 = (1/N)Σ(p_i-c)(p_i-c)^T</a:t>
            </a:r>
          </a:p>
        </p:txBody>
      </p:sp>
      <p:cxnSp>
        <p:nvCxnSpPr>
          <p:cNvPr name="Connector 7" id="7"/>
          <p:cNvCxnSpPr/>
          <p:nvPr/>
        </p:nvCxnSpPr>
        <p:spPr>
          <a:xfrm rot="-137436" flipH="false" flipV="false">
            <a:off x="3302127" y="2203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683000" y="1701800"/>
            <a:ext cx="2540000" cy="1016000"/>
          </a:xfrm>
          <a:prstGeom prst="roundRect">
            <a:avLst>
              <a:gd name="adj" fmla="val 750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784600" y="1803400"/>
            <a:ext cx="2336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2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特征值分解 S = VΛV^T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法向 n = 最小特征值对应特征向量</a:t>
            </a:r>
          </a:p>
        </p:txBody>
      </p:sp>
      <p:cxnSp>
        <p:nvCxnSpPr>
          <p:cNvPr name="Connector 10" id="10"/>
          <p:cNvCxnSpPr/>
          <p:nvPr/>
        </p:nvCxnSpPr>
        <p:spPr>
          <a:xfrm rot="-137436" flipH="false" flipV="false">
            <a:off x="6223127" y="2203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604000" y="1701800"/>
            <a:ext cx="2540000" cy="1016000"/>
          </a:xfrm>
          <a:prstGeom prst="roundRect">
            <a:avLst>
              <a:gd name="adj" fmla="val 750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05600" y="1803400"/>
            <a:ext cx="2336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3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对每个点算雅可比 J_i (6×3)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上3行: ∂n/∂p_i（特征值扰动）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下3行: ∂c/∂p_i = (1/N)I</a:t>
            </a:r>
          </a:p>
        </p:txBody>
      </p:sp>
      <p:cxnSp>
        <p:nvCxnSpPr>
          <p:cNvPr name="Connector 13" id="13"/>
          <p:cNvCxnSpPr/>
          <p:nvPr/>
        </p:nvCxnSpPr>
        <p:spPr>
          <a:xfrm rot="-137436" flipH="false" flipV="false">
            <a:off x="9144127" y="2203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9525000" y="17018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26600" y="1803400"/>
            <a:ext cx="1701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4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累积协方差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Σ += J_i·Σ_p·J_i^T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(6×6矩阵)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2946400"/>
            <a:ext cx="5207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核心：法向雅可比（特征值扰动理论）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" y="3429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对称矩阵S扰动δS时，第k个特征向量变化：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δv_k = Σ_{j≠k} (v_j^T δS v_k)/(λ_k-λ_j) · v_j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对法向(k=min)，点p_i变化→δS→δn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代码中F矩阵第m行(m≠min)：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F_m = (p_i-c)^T / [N(λ_min-λ_m)]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· (v_m v_min^T + v_min v_m^T)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∂n/∂p_i = V · F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2946400"/>
            <a:ext cx="5207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262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协方差有什么用：动态计算测量噪声R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26200" y="3429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点到平面残差 r = n^T(p - c)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J_nq = [p-c, -n] (1×6，把6维平面不确定度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投影到1维点面距离上)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σ_l = J_nq·Σ_{n,c}·J_nq^T + n^T·Σ_p·n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R^-1 = 1 / (0.001 + σ_l)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平面越确定(Σ小)→R小→该测量权重大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点离中心远→投影σ大→权重小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223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代码对应：voxel_map.cpp init_plane() (特征值分解+雅可比+协方差累积), StateEstimation() (动态R计算)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PLANE UNCERTAINTY · 平面不确定度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特征值扰动理论：法向量到底有多可靠？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核心公式：特征向量的扰动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对称矩阵 A = Σ λᵢ vᵢvᵢᵀ，受扰动 δA 时：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特征值变化：δλᵢ = vᵢᵀ δA vᵢ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特征向量变化（灵魂公式）：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δvᵢ = Σⱼ≠ᵢ [vⱼᵀδAvᵢ / (λᵢ−λⱼ)] · vⱼ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5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特征值间隔越小，特征向量越不稳定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套用到平面法向量 n = v₁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λ₁ = 法向散布（平面厚度）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λ₂, λ₃ = 平面内散布（延展度）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好平面（墙面）：λ₁≈0.001, λ₂≈0.1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间隔大 → δn 很小 → 法向量可靠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差平面（角落/曲面）：λ₁≈0.05, λ₂≈0.06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间隔小 → δn 很大 → 法向量不可信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10668000" cy="1600200"/>
          </a:xfrm>
          <a:prstGeom prst="roundRect">
            <a:avLst>
              <a:gd name="adj" fmla="val 6349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1910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这个协方差最终怎么用？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546600"/>
            <a:ext cx="1028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用途1：动态测量噪声 R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LiDAR 点到平面残差 r=nᵀ(p−c)，R 随平面质量动态变化。平面差（Σₙ大）→ R大 → 该点在ESIKF中自动降权。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用途2：外点剔除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法向不确定度超过阈值的平面，直接不参与匹配，避免坏平面拉偏位姿。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这是 FAST-LIVO2 相比前代的改进：前代用固定点噪声，FAST-LIVO2 用平面协方差做自适应加权。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 | 代码对应：voxel_map.cpp 平面初始化函数 (initVoxel / addPoint)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 · 视觉处理（重点）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651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摄像头拍的照片，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到底是怎么被用上的？</a:t>
            </a:r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激光雷达已经能定位了，为什么还需要相机？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相机的 2D 图像没有距离信息，怎么帮上忙？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的答案：</a:t>
            </a:r>
            <a:r>
              <a:rPr lang="en-US" b="tru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不找特征点，直接比像素亮度</a:t>
            </a:r>
            <a:r>
              <a:rPr lang="en-US" b="false" i="false" strike="noStrike" u="none" sz="16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461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500">
                <a:solidFill>
                  <a:srgbClr val="A0AAB9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接下来的 5 页，我们把视觉处理的每一步都拆开讲清楚。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01 · 直接法思路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为什么不找"特征点"，而是直接比亮度？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C8503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05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特征点法（传统）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349500"/>
            <a:ext cx="419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先在图像里找"角点"——墙角、纹理交界处（ORB、FAST）。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再在两帧之间匹配这些角点。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低纹理区域（白墙、隧道）找不到角点；提取和匹配耗时；特征点数量有限。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14500"/>
            <a:ext cx="5080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05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直接法（FAST-LIVO2）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349500"/>
            <a:ext cx="457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不提取任何特征点。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直接拿一小块图像（Patch，8×8像素），在当前帧和参考帧之间比</a:t>
            </a:r>
            <a:r>
              <a:rPr lang="en-US" b="tru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像素亮度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白墙也有微弱纹理可用；速度快；约束更密集。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08500"/>
            <a:ext cx="10160000" cy="1968500"/>
          </a:xfrm>
          <a:prstGeom prst="roundRect">
            <a:avLst>
              <a:gd name="adj" fmla="val 5161"/>
            </a:avLst>
          </a:prstGeom>
          <a:solidFill>
            <a:srgbClr val="E8720C">
              <a:alpha val="8000"/>
            </a:srgbClr>
          </a:solidFill>
          <a:ln w="127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6990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光度一致性假设：核心思想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5143500"/>
            <a:ext cx="9652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同一个三维点，不管从哪个角度拍，它在图像上的像素亮度应该一样。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如果当前帧里这个点的亮度和参考帧对不上，说明</a:t>
            </a:r>
            <a:r>
              <a:rPr lang="en-US" b="tru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我们估计的位姿有偏差</a:t>
            </a: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调整位姿，让所有 Patch 的亮度差之和最小——这就是视觉更新在做的事。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55600"/>
            <a:ext cx="635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02 · 视觉点检索（论文 Section VII-A）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6604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从地图里找出"这一帧能看见"的点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27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视觉地图点 =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挂在LiDAR点上的图像块。每个点 = 3D位置 + 平面法向 + 若干张8×8参考Patch。它同时存在于体素地图里，激光和视觉共用，无需从图像提取特征点。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79600"/>
            <a:ext cx="3238500" cy="1968500"/>
          </a:xfrm>
          <a:prstGeom prst="roundRect">
            <a:avLst>
              <a:gd name="adj" fmla="val 3870"/>
            </a:avLst>
          </a:prstGeom>
          <a:solidFill>
            <a:srgbClr val="4A6FA5">
              <a:alpha val="8000"/>
            </a:srgbClr>
          </a:solidFill>
          <a:ln w="25400" cmpd="sng" cap="flat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1943100"/>
            <a:ext cx="29845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① 可见体素查询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不遍历全图，只查两类体素：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当前LiDAR扫描击中的体素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上一帧可见的体素（相邻帧FoV重叠大）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查哈希表，O(1)快速定位。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然后做FoV检查筛选。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70400" y="1879600"/>
            <a:ext cx="3238500" cy="1968500"/>
          </a:xfrm>
          <a:prstGeom prst="roundRect">
            <a:avLst>
              <a:gd name="adj" fmla="val 3870"/>
            </a:avLst>
          </a:prstGeom>
          <a:solidFill>
            <a:srgbClr val="E8720C">
              <a:alpha val="8000"/>
            </a:srgbClr>
          </a:solidFill>
          <a:ln w="254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97400" y="1943100"/>
            <a:ext cx="29845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② 按需射线投射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LiDAR有近距盲区，或相机FoV超出LiDAR范围时：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图像分30×30像素网格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对空网格沿中心像素向后投射射线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从d_min到d_max均匀采样，命中体素即停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采样点在相机系预计算，省算力。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937500" y="1879600"/>
            <a:ext cx="3238500" cy="1968500"/>
          </a:xfrm>
          <a:prstGeom prst="roundRect">
            <a:avLst>
              <a:gd name="adj" fmla="val 3870"/>
            </a:avLst>
          </a:prstGeom>
          <a:solidFill>
            <a:srgbClr val="4C7A5A">
              <a:alpha val="8000"/>
            </a:srgbClr>
          </a:solidFill>
          <a:ln w="25400" cmpd="sng" cap="flat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64500" y="1943100"/>
            <a:ext cx="29845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③ 外点剔除（三重）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遮挡：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30×30网格内只留最近深度点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深度不连续：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与9×9邻域深度图比较，差异大则剔除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视角过大：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法向与视线夹角&gt;80°剔除（参考帧和当前帧都查）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26640" b="26640"/>
          <a:stretch>
            <a:fillRect/>
          </a:stretch>
        </p:blipFill>
        <p:spPr>
          <a:xfrm rot="0" flipH="false" flipV="false">
            <a:off x="1016000" y="4000500"/>
            <a:ext cx="4826000" cy="952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4899" b="4899"/>
          <a:stretch>
            <a:fillRect/>
          </a:stretch>
        </p:blipFill>
        <p:spPr>
          <a:xfrm rot="0" flipH="false" flipV="false">
            <a:off x="6350000" y="4000500"/>
            <a:ext cx="4826000" cy="952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1016000" y="4991100"/>
            <a:ext cx="482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9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论文Fig.7：外点剔除效果。红点=剔除，绿点=保留。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991100"/>
            <a:ext cx="482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9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论文Fig.S4：窄走廊射线投射。蓝点=射线获取，黄点=体素查询。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5461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VII-A1 Visible Voxel Query; VII-A2 Raycasting on Demand（Fig.6）; VII-A3 Outlier Rejection（Fig.7）; 补充材料Fig.S4窄走廊射线投射实验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vio.cpp::retrieveFromVisualSparseMap() ~L430-760（三步检索全在这个函数里）; 其中可见体素查询~L460-530, 射线投射~L530-650, 外点剔除~L650-760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网格30×30像素 | 深度邻域9×9 | 视角阈值80° | raycast_en由config控制（avia默认false，MARS_LVIG默认true）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POINT MANAGEMENT · 视觉点管理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参考图块 Patch、视觉点存储与更新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Patch 规格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patch_size = 8（8×8像素）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4层图像金字塔（level 0~3）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从粗到细逐层迭代匹配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每个视觉点存1个参考Patch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不是多尺度存储，匹配时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参考Patch按需下采样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84700" y="1879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 Patch 更新吗？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84700" y="22352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5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会更新</a:t>
            </a: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（论文Fig.S3）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触发条件：当前观测质量更优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视角更接近平面法向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距离更近（更清晰）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Patch内梯度更大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连续匹配成功、残差稳定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04200" y="1879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一个叶节点挂几个点？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04200" y="22352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动态数量，无硬编码上限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无纹理墙面：0个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普通墙面：1~3个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纹理丰富区：3~8个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平均 1~3 个/叶节点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用 std::vector 动态存储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13200"/>
            <a:ext cx="10668000" cy="1651000"/>
          </a:xfrm>
          <a:prstGeom prst="roundRect">
            <a:avLst>
              <a:gd name="adj" fmla="val 6153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41402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视觉点与体素地图的关系：统一地图，不是两张独立地图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5200" y="4495800"/>
            <a:ext cx="10287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</a:t>
            </a: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挂在体素叶节点上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，和LiDAR平面共享同一个空间索引（哈希表+八叉树）。每个叶节点同时存储：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几何层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：平面中心点c、法向量n、平面协方差Σ（LiDAR拟合）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tru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视觉层</a:t>
            </a: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：若干VisualPoint（3D位置来自LiDAR点 + 8×8参考Patch + 观测计数 + 质量评分）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平面法向量用来算仿射变换，视觉点3D坐标直接来自LiDAR（非三角化），几何和视觉在同一体素内互相服务。全局视觉点总数通过图像网格采样控制在200~500个。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V, VII-A | 代码对应：voxel_map.h (Voxel/VisualPoint结构体), vio.cpp (参考块更新逻辑)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POINT SELECTION · 视觉点筛选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如何判断一个 LiDAR 点能不能挂成视觉点？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18415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① 投影有效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2159000"/>
            <a:ext cx="1524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 = π(T·p)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u在图像范围内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 z &gt; 0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不满足→丢弃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035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05100" y="18415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② 纹理检测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05100" y="2159000"/>
            <a:ext cx="1524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周围窗口梯度幅值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= √(Ix²+Iy²)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梯度 &lt; 阈值→丢弃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（白墙/天空无纹理）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梯度 &gt; 阈值→保留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46600" y="18415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③ 几何有效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46600" y="2159000"/>
            <a:ext cx="1524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距离在合理范围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观测角度 &lt; 阈值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（法向与视线夹角）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未被遮挡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不满足→丢弃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865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88100" y="18415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④ 体素归属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88100" y="2159000"/>
            <a:ext cx="1524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计算p所在叶节点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索引=floor(p/0.5)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八叉树递归到layer2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找到目标叶节点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29600" y="18415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⑤ 去重检查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29600" y="2159000"/>
            <a:ext cx="1524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遍历叶节点已有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视觉点列表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距离 &lt; 最小阈值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→不重复添加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969500" y="1752600"/>
            <a:ext cx="1460500" cy="1968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033000" y="1841500"/>
            <a:ext cx="1333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⑥ 网格采样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033000" y="2159000"/>
            <a:ext cx="1333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图像划分为网格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(grid_size=5)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每格选梯度最大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的1~2个点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控制总数200~500</a:t>
            </a:r>
          </a:p>
        </p:txBody>
      </p:sp>
      <p:cxnSp>
        <p:nvCxnSpPr>
          <p:cNvPr name="Connector 23" id="23"/>
          <p:cNvCxnSpPr/>
          <p:nvPr/>
        </p:nvCxnSpPr>
        <p:spPr>
          <a:xfrm rot="-342635" flipH="false" flipV="false">
            <a:off x="24768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4" id="24"/>
          <p:cNvCxnSpPr/>
          <p:nvPr/>
        </p:nvCxnSpPr>
        <p:spPr>
          <a:xfrm rot="-342635" flipH="false" flipV="false">
            <a:off x="43183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5" id="25"/>
          <p:cNvCxnSpPr/>
          <p:nvPr/>
        </p:nvCxnSpPr>
        <p:spPr>
          <a:xfrm rot="-342635" flipH="false" flipV="false">
            <a:off x="61598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6" id="26"/>
          <p:cNvCxnSpPr/>
          <p:nvPr/>
        </p:nvCxnSpPr>
        <p:spPr>
          <a:xfrm rot="-342635" flipH="false" flipV="false">
            <a:off x="80013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7" id="27"/>
          <p:cNvCxnSpPr/>
          <p:nvPr/>
        </p:nvCxnSpPr>
        <p:spPr>
          <a:xfrm rot="-342635" flipH="false" flipV="false">
            <a:off x="98428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762000" y="3937000"/>
            <a:ext cx="10668000" cy="1879600"/>
          </a:xfrm>
          <a:prstGeom prst="roundRect">
            <a:avLst>
              <a:gd name="adj" fmla="val 5405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65200" y="40640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通过全部六重检查后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65200" y="4419600"/>
            <a:ext cx="10287000" cy="1295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VisualPoint 结构体，挂到叶节点的 vector 中：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3D位置 position（来自LiDAR点，非相机三角化）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8×8参考灰度Patch（从当前帧提取）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观测计数 observation_count（初始为1）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质量评分 quality_score（梯度+视角+距离综合）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该体素的平面参数（n, c, Σ）已由LiDAR拟合好，视觉点直接共享使用。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VII-A | 代码对应：vio.cpp (视觉点提取与筛选), voxel_map.h (VisualPoint结构体)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55600"/>
            <a:ext cx="635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03 · 仿射变换（论文 Section V-E1, 公式13）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6604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参考图像块为什么会"变形"？用平面先验算仿射矩阵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295" r="295" t="0" b="0"/>
          <a:stretch>
            <a:fillRect/>
          </a:stretch>
        </p:blipFill>
        <p:spPr>
          <a:xfrm rot="0" flipH="false" flipV="false">
            <a:off x="1016000" y="1270000"/>
            <a:ext cx="5588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858000" y="1270000"/>
            <a:ext cx="431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相机移动后，同一平面在图像上不仅位置变了，形状也变——近大远小、倾斜剪切。简单平移对不上。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LiDAR已给出该点所在平面的法向n，用单应矩阵算仿射变换A，把参考Patch扭曲成当前帧视角。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三种方法对比（论文Fig.S2）：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恒定深度假设 → 漂移0.22m，回不到起点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平面先验（LiDAR法向）→ 漂移&lt;0.01m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法向细化（光度优化）→ 漂移&lt;0.01m，纹理最清晰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73500"/>
            <a:ext cx="10160000" cy="6985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937000"/>
            <a:ext cx="990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公式(13)：</a:t>
            </a:r>
            <a:r>
              <a:rPr lang="en-US" b="false" i="false" strike="noStrike" u="none" sz="1200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P · ( R + t · nᵀ / (nᵀ·p) ) · P⁻¹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P=相机投影矩阵 | R,t=参考→当前帧位姿 | n=LiDAR平面法向 | p=3D点在参考帧坐标</a:t>
            </a:r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4756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4889500"/>
            <a:ext cx="1016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V-E1 Affine warping, 公式(13); Section VII-B 公式(21); 补充材料Fig.S1/S2 三种方法建图效果对比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vio.cpp::getWarpMatrixAffineHomography() ~L290-320（计算单应矩阵H和仿射矩阵A的两列）; vio.cpp::warpAffine() ~L355-390（用A扭曲参考Patch，双线性插值采样）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关键参数（avia.yaml）：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patch_size: 8 | patch_pyrimid_level: 4（实际用3层金字塔）| normal_en: true（启用平面法向）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输入=3D点坐标+平面法向+参考帧/当前帧位姿+参考帧图像; 输出=2×2仿射矩阵A + 扭曲后的N×N参考Patch像素值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AFFINE WARPING · 仿射扭曲 | 论文 Section V-E1 公式(13), 代码 vio.cpp getWarpMatrixAffineHomography()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平面先验算仿射矩阵：5步把参考块扭曲到当前帧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1803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反投影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2082800"/>
            <a:ext cx="1930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patch的4个角点像素(u,v)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相机坐标系射线方向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d = K^-1·[u,v,1]^T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= [(u-cx)/fx, (v-cy)/fy, 1]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射线上任意点 P = s·d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s为深度(待求)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149600" y="1803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射线-平面求交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49600" y="2082800"/>
            <a:ext cx="1930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平面先验的核心！</a:t>
            </a: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平面方程 n^T(P-p)=0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代入 P = s·d：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 = n_cam^T·p_cam / n_cam^T·d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不用假设深度恒定！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每个角点精确求深度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35600" y="1803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位姿变换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435600" y="2082800"/>
            <a:ext cx="1930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4个3D点从参考帧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变换到当前帧：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P'_cam = R_rel·P_cam + t_rel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R_rel, t_rel 由ESIKF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当前状态给出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(参考帧→当前帧相对位姿)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21600" y="1803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4 投影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21600" y="2082800"/>
            <a:ext cx="1930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3D点投影到当前帧图像：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[u',v',1]^T ~ K·P'_cam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得到4个角点在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当前帧的新像素坐标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倾斜平面→投影后是梯形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不是正方形！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906000" y="1701800"/>
            <a:ext cx="1524000" cy="1968500"/>
          </a:xfrm>
          <a:prstGeom prst="roundRect">
            <a:avLst>
              <a:gd name="adj" fmla="val 5000"/>
            </a:avLst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007600" y="1803400"/>
            <a:ext cx="1320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5 拟合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007600" y="2082800"/>
            <a:ext cx="1320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4对对应点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最小二乘求解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2×3仿射矩阵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[a b c; d e f]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u'=au+bv+c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v'=du+ev+f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886200"/>
            <a:ext cx="520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5200" y="40132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 vs 恒定深度：为什么更精确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65200" y="43688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恒定深度</a:t>
            </a: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：假设patch内所有像素深度=中心点深度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投影后仍是正方形，只有平移+均匀缩放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近距离、倾斜平面时误差大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</a:t>
            </a: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：利用LiDAR拟合的平面法向n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每个角点做射线-平面求交，深度各不相同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投影后是梯形/平行四边形，含剪切和非均匀缩放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光度残差更小，ESIKF收敛更快更准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3886200"/>
            <a:ext cx="520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26200" y="40132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仿射矩阵之后：扭曲采样 + 光度残差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26200" y="43688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拿到2×3仿射矩阵后：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warpAffine()：对参考patch每个像素，用仿射矩阵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算出当前帧对应亚像素坐标，双线性插值采样灰度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计算光度残差：r = 扭曲后参考块 - 当前块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链式法则算雅可比：状态→位姿→3D点→投影→像素→灰度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累积H和b，迭代ESIKF更新状态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6223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代码对应：vio.cpp getWarpMatrixAffineHomography() (平面先验), getWarpMatrixAffine() (恒定深度), warpAffine() (扭曲采样)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55600"/>
            <a:ext cx="635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04 · 光度误差（论文 Section VII-B, 公式21-22）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6604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用像素亮度"量"出位姿偏差——稀疏直接光度对齐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270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A2E4B">
              <a:alpha val="6000"/>
            </a:srgbClr>
          </a:solidFill>
          <a:ln w="25400" cmpd="sng" cap="flat">
            <a:solidFill>
              <a:srgbClr val="1A2E4B">
                <a:alpha val="2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308100"/>
            <a:ext cx="990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公式(21)：</a:t>
            </a:r>
            <a:r>
              <a:rPr lang="en-US" b="false" i="false" strike="noStrike" u="none" sz="1300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= τ_k · I_k( u_i + Δu ) − τ_r · I_r( u_i′ + A · Δu )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Δu = Patch内相对中心的像素偏移（遍历8×8=64个像素） | A = 仿射矩阵 | τ = 逆曝光时间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984" r="984" t="0" b="0"/>
          <a:stretch>
            <a:fillRect/>
          </a:stretch>
        </p:blipFill>
        <p:spPr>
          <a:xfrm rot="0" flipH="false" flipV="false">
            <a:off x="1016000" y="2222500"/>
            <a:ext cx="5588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6858000" y="2222500"/>
            <a:ext cx="431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论文Fig.S1对比：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左列(a)(c)是恒定深度假设的扭曲结果，Patch投影严重错位；右列(b)(d)是平面先验的结果，投影无缝贴合原图。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492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计算流程：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①对每个视觉地图点，用当前位姿把3D点投影到当前帧得u_i ②遍历Patch内64个像素Δu ③当前帧双线性插值取I_k(u_i+Δu) ④参考帧用仿射矩阵A变换后取I_r(u_i′+A·Δu) ⑤乘各自逆曝光时间相减得残差r ⑥所有点的残差组成向量z，维度=视觉点数×64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5720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雅可比（链式法则）：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∂r/∂x = ∂r/∂u · ∂u/∂p · ∂p/∂δx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∂r/∂u=图像梯度（中心差分） | ∂u/∂p=针孔投影雅可比 | ∂p/∂δx=旋转-[p]×、平移=I | 对曝光时间雅可比=当前像素亮度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539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5524500"/>
            <a:ext cx="10160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VII-B Sparse-Direct Visual Measurement Model, 公式(21)(22); 逆组合公式见Section VII-B末尾; 补充材料Fig.S1扭曲投影对比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vio.cpp::updateState() ~L1310-1580（正向公式：残差+雅可比+ESIKF更新）; vio.cpp::updateStateInverse() ~L1580+（逆组合公式，雅可比预计算在参考帧）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收敛条件：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旋转变化&lt;0.001° 且 平移变化&lt;0.001cm（比LiDAR的0.01°/0.015cm更严格，因为视觉要像素级精度）| 最多迭代5次 | 3层金字塔由粗到细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EQUATION 21 · 公式(21) 通俗解释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公式(21)：老照片亮度 − 新照片亮度 = 残差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1028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r_I(u) = I_ref(u) − I_cur( u' + Δu 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44800"/>
            <a:ext cx="5080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29718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I_ref(u) —— 老照片里这个点多亮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327400"/>
            <a:ext cx="469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I_ref = 参考图像（上一帧/关键帧）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 = 像素坐标（如第320行240列）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I_ref(u) = 该像素灰度值（0~255）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这个8×8 Patch 存放在视觉地图点里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2844800"/>
            <a:ext cx="5334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99200" y="29718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I_cur(u'+Δu) —— 新照片对应位置多亮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99200" y="3327400"/>
            <a:ext cx="4953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u' = π(Rp+t)：用当前位姿把3D点投影到新图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Δu = 曝光时间导致的亚像素偏移（公式14）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u'通常不是整数，需双线性插值取亮度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位姿准→u'对准→同一表面→亮度相同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72000"/>
            <a:ext cx="10668000" cy="1092200"/>
          </a:xfrm>
          <a:prstGeom prst="roundRect">
            <a:avLst>
              <a:gd name="adj" fmla="val 9302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" y="46990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比喻：火车上拍窗外的树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5054600"/>
            <a:ext cx="1028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上一秒拍了树顶（参考Patch），这一秒根据火车移动量算出树顶该在新照片哪里（u'），取那个位置的亮度。如果移动量算准了，新位置还是树顶，亮度一样，r=0；算偏了5像素，取到天空，亮度差很大，r很大。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867400"/>
            <a:ext cx="1066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ESIKF做的事</a:t>
            </a:r>
            <a:r>
              <a:rPr lang="en-US" b="fals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：对几百个像素各算一个r，算r对位姿的雅可比∂r/∂ξ，解最小二乘让Σr²最小，得到位姿修正量δξ，迭代直到收敛（旋转变化&lt;0.001°，平移变化&lt;0.001cm）。</a:t>
            </a: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本质：不断微调位姿，让老照片和新照片的亮度尽可能对上。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55600"/>
            <a:ext cx="635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05 · 精度技巧（论文 Section V-E2, 公式14）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6604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两个让精度再上台阶的关键技巧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270000"/>
            <a:ext cx="48260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333500"/>
            <a:ext cx="4572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技巧一：在线曝光时间估计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从走廊走进大厅，光照变了同一点亮度就变，光度一致性被破坏。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20维状态向量加1维τ（逆曝光时间），第一帧τ=1为基准，每帧在线估计。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雅可比：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对τ的偏导就是当前像素亮度，计算零成本。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论文Fig.S5：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估计的曝光时间与真实值高度吻合。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270000"/>
            <a:ext cx="48260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333500"/>
            <a:ext cx="4572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技巧二：法向细化 + 参考块动态更新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LiDAR给的平面法向有噪声，影响仿射变换精度。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法向细化（公式14）：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独立线程中，用参考Patch与所有观测Patch的光度误差优化法向n。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参考块更新：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多观测时选平均光度误差最小的作参考；用NCC+视角余弦综合评分动态更新。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29826" b="29826"/>
          <a:stretch>
            <a:fillRect/>
          </a:stretch>
        </p:blipFill>
        <p:spPr>
          <a:xfrm rot="0" flipH="false" flipV="false">
            <a:off x="1016000" y="3365500"/>
            <a:ext cx="1016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1016000" y="46990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论文Fig.S3：参考块更新示意。红框为选定参考块，数字对应观测帧编号，右侧曲线为法向收敛过程。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16500"/>
            <a:ext cx="10160000" cy="508000"/>
          </a:xfrm>
          <a:prstGeom prst="roundRect">
            <a:avLst>
              <a:gd name="adj" fmla="val 10000"/>
            </a:avLst>
          </a:prstGeom>
          <a:solidFill>
            <a:srgbClr val="1A2E4B">
              <a:alpha val="6000"/>
            </a:srgbClr>
          </a:solidFill>
          <a:ln w="254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公式(14): n* = argmin Σ Σ ||τ_i·I_i(A·u) − τ_r·I_r(u)||² （在最高分辨率金字塔层优化，约束n∈单位球面S²）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564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5778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V-E2 Normal Optimization 公式(14); Section V-E3 Optimization Variable Transformation（重参数化M=n/(nᵀp), 约束p·M=1, 降为2维优化）; 补充材料Fig.S3参考块更新, Fig.S5曝光时间估计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vio.cpp::updateReferencePatch() ~L975-1120（参考块更新+法向细化，独立线程调用）; feature.h::Feature类（存储Patch、逆曝光时间、位姿）; visual_point.cpp（参考块选择逻辑）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exposure_estimate_en: true（启用曝光估计）| inv_expo_cov: 0.1（曝光时间协方差）| normal_en: true（启用法向）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EQUATION 14 · 公式(14) 通俗解释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公式(14)：曝光时间多1ms，照片会糊多少？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54200"/>
            <a:ext cx="1028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∂r / ∂τ = −(图像梯度 ∇I) × (像素运动速度 v_img)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17800"/>
            <a:ext cx="3429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28448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问题：运动模糊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200400"/>
            <a:ext cx="3048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拍照不是"咔嚓"一瞬间。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快门打开τ时间（如10ms），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这段时间机器人在动，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同一个3D点在图像上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拖出虚影→运动模糊。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不补偿的话匹配失败。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717800"/>
            <a:ext cx="3429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84700" y="28448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公式在算什么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84700" y="3200400"/>
            <a:ext cx="3048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∂r/∂τ = 曝光时间多1ms，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光度残差会变多少？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∇I = 图像梯度（边缘陡不陡）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v_img = 像素运动速度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（由IMU角速度+点深度决定）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2717800"/>
            <a:ext cx="3429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04200" y="28448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数字例子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04200" y="3200400"/>
            <a:ext cx="3048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角速度1rad/s，深度3m，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焦距500像素，τ=10ms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像素速度≈500×1/3≈167px/s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10ms内像素移动1.67px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中点偏移0.8px→边缘处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灰度差20~30，残差很大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699000"/>
            <a:ext cx="10668000" cy="965200"/>
          </a:xfrm>
          <a:prstGeom prst="roundRect">
            <a:avLst>
              <a:gd name="adj" fmla="val 10526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" y="48260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完整逻辑链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" y="5181600"/>
            <a:ext cx="1028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机器人在动(IMU知道ω,v) → 曝光期间像素位置在变(v_img) → 有效位置=起点+(τ/2)×v_img=Δu → τ变多少→Δu变多少→亮度变多少→残差变多少 → 公式(14)=∂r/∂τ把敏感度算出来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67400"/>
            <a:ext cx="1066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ESIKF把τ也当状态量在线估计</a:t>
            </a:r>
            <a:r>
              <a:rPr lang="en-US" b="fals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：根据残差反推τ该调大还是调小，收敛到真实曝光时间，Δu被精确补偿。传统方法假设τ=0，运动快就糊；FAST-LIVO2自动校准τ，适应不同光照下的自动曝光。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55600"/>
            <a:ext cx="635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 · 融合策略（论文 Section IV ESIKF）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6604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三种数据怎么融合？——ESIKF 顺序更新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20446" b="20446"/>
          <a:stretch>
            <a:fillRect/>
          </a:stretch>
        </p:blipFill>
        <p:spPr>
          <a:xfrm rot="0" flipH="false" flipV="false">
            <a:off x="1016000" y="1270000"/>
            <a:ext cx="10160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1115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论文图：ESIKF顺序更新流程。先LiDAR点到平面残差更新，再Visual光度残差更新，两者共用同一状态向量。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92500"/>
            <a:ext cx="3175000" cy="1651000"/>
          </a:xfrm>
          <a:prstGeom prst="roundRect">
            <a:avLst>
              <a:gd name="adj" fmla="val 4615"/>
            </a:avLst>
          </a:prstGeom>
          <a:solidFill>
            <a:srgbClr val="4A6FA5">
              <a:alpha val="8000"/>
            </a:srgbClr>
          </a:solidFill>
          <a:ln w="25400" cmpd="sng" cap="flat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556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状态向量（20维）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姿态(四元数4) + 位置(3) + 速度(3)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陀螺零偏(3) + 加速度零偏(3)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重力向量(3) + 逆曝光时间(1)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误差状态19维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（旋转用3维向量）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协方差矩阵 19×19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3492500"/>
            <a:ext cx="3175000" cy="1651000"/>
          </a:xfrm>
          <a:prstGeom prst="roundRect">
            <a:avLst>
              <a:gd name="adj" fmla="val 4615"/>
            </a:avLst>
          </a:prstGeom>
          <a:solidFill>
            <a:srgbClr val="E8720C">
              <a:alpha val="8000"/>
            </a:srgbClr>
          </a:solidFill>
          <a:ln w="25400" cmpd="sng" cap="flat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3556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顺序更新（关键创新）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解决LiDAR（数百点）和Visual（数万残差）维度不匹配问题。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LiDAR点到平面残差更新（粗修正）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Visual光度残差更新（精修）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两者共用同一状态，串行执行。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3492500"/>
            <a:ext cx="3175000" cy="1651000"/>
          </a:xfrm>
          <a:prstGeom prst="roundRect">
            <a:avLst>
              <a:gd name="adj" fmla="val 4615"/>
            </a:avLst>
          </a:prstGeom>
          <a:solidFill>
            <a:srgbClr val="4C7A5A">
              <a:alpha val="8000"/>
            </a:srgbClr>
          </a:solidFill>
          <a:ln w="25400" cmpd="sng" cap="flat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3556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迭代EKF（IEKF）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每次迭代重线性化，比普通EKF更准。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先验拉回项：</a:t>
            </a: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防止迭代中状态漂移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δx = K·(z−Hx) + (I−KH)·(x_prior−x_current)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LiDAR最多5次迭代，Visual最多5次。</a:t>
            </a:r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5461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IV ESIKF（含IV-A状态定义, IV-B IMU传播, IV-C误差状态传播, IV-D顺序更新）; 创新点1：高效ESIKF顺序更新框架解决维度不匹配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voxel_map.cpp::StateEstimation() ~L338-530（LiDAR ESIKF更新，含先验拉回项和迭代）; vio.cpp::updateState() ~L1310-1580（Visual ESIKF更新）; IMU_Processing.cpp::Process2() ~L543-587（IMU前向传播+协方差传播）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关键参数：</a:t>
            </a:r>
            <a:r>
              <a:rPr lang="en-US" b="false" i="false" strike="noStrike" u="none" sz="10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lio.max_iterations=5 | vio.max_iterations=5 | imu.acc_cov=0.5, gyr_cov=0.3 | vio.img_point_cov=100（视觉测量噪声）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CONCEPT DEEP DIVE · 概念深入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 是什么？误差状态迭代卡尔曼滤波器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3429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① Error-State 误差状态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86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不直接估计状态本身，而是估计状态的"误差量" δx。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预测时用名义状态 x 积分，更新时只修正误差，再用 x ← x ⊕ δx 合成。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好处：旋转误差是3维小量（李代数 so(3)），可以线性化，避免旋转矩阵加法不正交。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52600"/>
            <a:ext cx="342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84700" y="18796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② Iterated 迭代更新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84700" y="2286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标准EKF只做一次测量更新。ESIKF在每次测量内反复迭代：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用修正后的新状态重新计算残差和雅可比，直到收敛。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LiDAR收敛阈值：旋转&lt;0.01° 且 平移&lt;0.015cm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视觉收敛阈值：旋转&lt;0.001° 且 平移&lt;0.001cm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1752600"/>
            <a:ext cx="3429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04200" y="18796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③ Kalman Filter 卡尔曼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04200" y="2286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经典预测-更新两步递归：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预测步：用IMU运动模型传播状态和协方差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更新步：用LiDAR/视觉测量修正状态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核心公式：K = PH^T(HPH^T+R)^-1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δx = K·(z - h(x))，x ← x ⊕ δx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1656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42926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19维状态向量 x = [R, p, τ, v, b_g, b_a, g]^T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5200" y="4648200"/>
            <a:ext cx="10287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R(3)旋转矩阵 · p(3)位置 · τ(1)逆曝光时间 · v(3)速度 · b_g(3)陀螺偏置 · b_a(3)加计偏置 · g(3)重力向量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误差状态 δx = [δθ, δp, δτ, δv, δb_g, δb_a, δg]^T，其中 δθ 是旋转的李代数误差（3维小量），不是旋转矩阵本身。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664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IV (ESIKF 数学框架) · 代码对应：common_lib.h StatesGroup (DIM_STATE=19), voxel_map.cpp StateEstimation, vio.cpp updateState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UNIFIED MAP · 统一地图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一套地图，同时服务激光和视觉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05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几何结构层（LiDAR 构建）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349500"/>
            <a:ext cx="419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每个叶体素存储一个局部平面：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中心点坐标（平面位置）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法向量（平面朝向）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协方差矩阵（不确定度）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成熟标志（稳定后冻结）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145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05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视觉信息层（Camera 附加）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3495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在 LiDAR 点上附加视觉地图点：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3D 位置（直接用 LiDAR 点）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参考图像块 Patch（8×8，3 层金字塔）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多个观测帧（用于法向细化和参考块选择）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逆曝光时间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254500"/>
            <a:ext cx="10160000" cy="2222500"/>
          </a:xfrm>
          <a:prstGeom prst="roundRect">
            <a:avLst>
              <a:gd name="adj" fmla="val 4571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4450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统一地图的三大优势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49530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1. 避免跨图对齐误差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53086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传统方案维护 LiDAR 图和视觉图两张地图，需要不断对齐，误差会积累。统一地图从根源消除了这个问题。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49530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2. 几何先验喂给视觉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35500" y="53086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视觉做仿射变换时，直接用 LiDAR 平面的法向作为先验，比纯视觉估计深度更准、更快。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49530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3. 视觉反哺几何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53086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视觉用多视角光度一致性细化平面法向，反过来提升 LiDAR 配准精度，形成信息闭环。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INNOVATIONS · 创新点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相对于 FAST-LIVO 的五大创新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1905000"/>
            <a:ext cx="381000" cy="3810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1955800"/>
            <a:ext cx="38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14500" y="1879600"/>
            <a:ext cx="393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 顺序更新框架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14500" y="21971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前代用异步更新，维度不匹配易出问题。顺序更新数学等价于联合更新，且更灵活鲁棒。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14500"/>
            <a:ext cx="4953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1905000"/>
            <a:ext cx="381000" cy="3810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1955800"/>
            <a:ext cx="38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21500" y="1879600"/>
            <a:ext cx="406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 + 法向细化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921500" y="21971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前代假设 Patch 内深度恒定（漂移 0.22m）。用 LiDAR 平面先验后漂移小于 0.01m，再细化法向纹理最清晰。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2921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06500" y="3111500"/>
            <a:ext cx="381000" cy="3810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06500" y="3162300"/>
            <a:ext cx="38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14500" y="3086100"/>
            <a:ext cx="393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参考块动态更新策略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14500" y="34036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前代按与当前帧接近程度选参考块，常选到低质量块。新方法用 NCC + 视角余弦综合评分选最优。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2921000"/>
            <a:ext cx="4953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3111500"/>
            <a:ext cx="381000" cy="3810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3162300"/>
            <a:ext cx="38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21500" y="3086100"/>
            <a:ext cx="406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在线曝光时间估计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21500" y="34036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前代不处理光照变化，收敛差。将逆曝光时间纳入状态向量在线估计，抵消环境光照变化。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4127500"/>
            <a:ext cx="10160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C7A5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206500" y="4318000"/>
            <a:ext cx="381000" cy="381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206500" y="4368800"/>
            <a:ext cx="38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714500" y="4292600"/>
            <a:ext cx="914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按需体素射线投射（On-demand Raycasting）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714500" y="46101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LiDAR 存在近距离盲区，部分图像区域无对应 LiDAR 点。对无覆盖的图像网格，从相机沿射线方向在地图中查找平面点，增强视觉更新的鲁棒性。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16000" y="5397500"/>
            <a:ext cx="10160000" cy="1079500"/>
          </a:xfrm>
          <a:prstGeom prst="roundRect">
            <a:avLst>
              <a:gd name="adj" fmla="val 9411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270000" y="55880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共同设计哲学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270000" y="59690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五个创新点围绕同一个目标：让直接法在真实环境中更准、更稳、更鲁棒——从融合框架到几何先验，从参考块选择到光照补偿，再到盲区填补。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01 · 创新点一 | 论文 Section IV-D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创新点一：ESIKF 顺序更新框架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32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前代问题：异步更新（FAST-LIVO）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44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LiDAR和视觉在各自线程独立更新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两个滤波器状态维度不匹配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视觉状态含曝光时间τ，LiDAR状态不含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需要额外的状态同步和协方差传递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容易出现状态不一致、协方差交叉污染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时序竞争可能导致更新顺序不确定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FAST-LIVO2：统一状态 + 顺序更新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44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单一19维状态向量，LiDAR和视觉共用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先执行LiDAR更新（点到平面残差）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再执行视觉更新（光度残差）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两次更新共享同一个协方差矩阵P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第一次更新的结果作为第二次的先验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无需状态同步，无维度不匹配问题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13200"/>
            <a:ext cx="10668000" cy="1778000"/>
          </a:xfrm>
          <a:prstGeom prst="roundRect">
            <a:avLst>
              <a:gd name="adj" fmla="val 5714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1402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顺序更新的完整执行流程（每帧）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495800"/>
            <a:ext cx="10287000" cy="1193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IMU前向传播 → 得到状态先验 x^- 和协方差 P^-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LiDAR ESIKF更新：点到平面残差 → 迭代到收敛(旋转&lt;0.01°, 平移&lt;0.015cm) → 更新 x 和 P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视觉ESIKF更新：以②的结果为先验 → 稀疏光度残差 → 迭代到收敛(旋转&lt;0.001°, 平移&lt;0.001cm，更严格) → 最终 x 和 P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用最终状态更新体素地图（LiDAR平面 + 视觉点）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代码对应：LIVMapper.cpp stateEstimationAndMapping() → handleLIO() 先执行 → handleVIO() 后执行，共用同一个 state_ 对象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02 · 创新点二 | 论文 Section V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创新点二：统一体素地图（几何层 + 视觉层）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几何结构层（LiDAR 构建）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80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每个叶体素存储一个局部平面：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中心点 c (3D坐标)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法向量 n (单位向量)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平面协方差 Σ_{n,c} (6×6不确定度)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is_plane_ 标志 (是否拟合成功)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用途：LiDAR点到平面残差计算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 = n^T(p - c)，进入ESIKF更新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协方差用于动态计算测量噪声R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视觉描述层（挂在几何点上）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视觉地图点 = 3D位置 + 图像块(patch)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3D位置来自LiDAR点云（有精确深度）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法向来自所在体素的平面拟合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参考图像块(8×8灰度) + 观测历史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逆曝光时间归一化的灰度值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用途：视觉光度残差计算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 = 参考块(仿射扭曲后) - 当前块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672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3942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为什么"统一"是创新：两层共享同一个空间索引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749800"/>
            <a:ext cx="10287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几何层和视觉层都挂在同一个哈希表+八叉树结构上，不需要维护两套独立的地图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视觉点的3D位置和法向直接从LiDAR几何层获取，不需要三角化（双目/多视图）或深度估计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LiDAR更新平面时，视觉点自动获得更精确的法向（法向细化）；视觉更新位姿后，LiDAR点云配准更准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两层互相增强：LiDAR给视觉提供深度和几何，视觉给LiDAR提供纹理约束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代码对应：voxel_map.h VoxelPlane (几何层), visual_point.h VisualPoint (视觉层), vio.cpp SubSparseMap (视觉点集合)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03 · 创新点三 | 论文 Section VII-B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创新点三：稀疏直接视觉测量（不提取特征点）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32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传统特征点法的问题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384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先检测角点(ORB/FAST)，再计算描述子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只利用图像中 ~5% 的像素信息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纹理缺失区域（白墙、天空）完全失效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特征匹配耗时，且可能误匹配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描述子对光照变化敏感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无法利用LiDAR提供的深度信息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FAST-LIVO2：稀疏直接法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384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不提取特征点，直接比较像素灰度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视觉点来自LiDAR点云（有精确3D位置）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每个点挂一个8×8参考图像块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用仿射变换把参考块扭曲到当前帧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光度残差 = 扭曲后参考块 - 当前块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金字塔迭代(4层)，从粗到精对齐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62400"/>
            <a:ext cx="10668000" cy="1841500"/>
          </a:xfrm>
          <a:prstGeom prst="roundRect">
            <a:avLst>
              <a:gd name="adj" fmla="val 5517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0894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稀疏直接法的完整处理流程（每帧视觉更新）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445000"/>
            <a:ext cx="1028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图像金字塔构建：4层，从原图(level 0)到1/8分辨率(level 3)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视觉点检索：把地图中3D点投影到当前帧，落在图像内且通过外点检查的点参与计算（网格均匀采样，约28像素一格）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对每个点：平面先验算仿射矩阵 → 扭曲参考块 → 双线性采样 → 计算64个像素的光度残差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链式法则算雅可比：δ状态→δ位姿→δ3D点→δ像素→δ灰度，累积H矩阵和b向量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⑤ 求解δx = H^-1·b，更新状态，迭代到收敛（旋转&lt;0.001°且平移&lt;0.001cm）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⑥ 从level 3到level 0逐层执行，粗对齐后精对齐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代码对应：vio.cpp computeJacobianAndUpdateEKF() (主调度), retrieveFromVisualSparseMap() (检索), updateState()/updateStateInverse() (迭代更新)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04 · 创新点四 | 论文 Section V-E, VII-A1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创新点四：平面先验仿射 + 法向细化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4a. 平面先验仿射变换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传统直接法假设patch内深度恒定，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仿射变换只含平移+均匀缩放。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FAST-LIVO2利用LiDAR平面法向：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每个角点做射线-平面求交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深度随像素位置变化（倾斜平面）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仿射矩阵含剪切+非均匀缩放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扭曲后patch形状=真实透视形变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光度残差更小，收敛更快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4b. 法向细化（Normal Refinement）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63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视觉点的法向不是固定不变的：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初始法向来自LiDAR体素平面拟合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每次视觉更新后，用新位姿重新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从体素地图获取更精确的平面法向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法向用于仿射变换计算和雅可比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法向越准→仿射越准→残差越小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形成正反馈：位姿准→法向准→位姿更准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代码：updateReferencePatch()中更新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16400"/>
            <a:ext cx="10668000" cy="1587500"/>
          </a:xfrm>
          <a:prstGeom prst="roundRect">
            <a:avLst>
              <a:gd name="adj" fmla="val 6400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3434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两个技术如何配合：几何-视觉正反馈循环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699000"/>
            <a:ext cx="1028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LiDAR更新 → 体素平面更精确 → 视觉点获得更好的法向 → 平面先验仿射更准确 → 光度残差更小 → 视觉位姿更新更准 → LiDAR点云去畸变更准 → LiDAR更新更精确 → ...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这就是紧耦合的本质：两种传感器不是独立工作，而是通过共享的地图和状态互相增强。平面先验让视觉在近距离/大视角下不退化，法向细化让几何信息持续反哺视觉。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代码对应：vio.cpp getWarpMatrixAffineHomography() (平面先验仿射), updateReferencePatch() (法向细化+参考块更新)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57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05 · 创新点五 | 论文 Section V-E2, 公式(14)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创新点五：在线曝光时间估计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52600"/>
            <a:ext cx="5080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32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879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问题：光照变化导致光度残差失效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35200"/>
            <a:ext cx="469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直接法假设"同一点在不同帧灰度不变"。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但实际中：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从走廊走进大厅，整体亮度突变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自动曝光(AE)调整了曝光时间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不同帧的曝光时间不一样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灰度值 = 辐照度 × 曝光时间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曝光时间变了，同一点灰度也变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光度残差出现系统性偏差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52600"/>
            <a:ext cx="5334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1879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FAST-LIVO2：把逆曝光时间加入状态向量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2235200"/>
            <a:ext cx="4953000" cy="1384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19维状态中 τ = 逆曝光时间(1/曝光时间)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灰度归一化：I_normalized = I_raw × τ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参考块和当前块都乘以各自的τ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消除曝光时间差异的影响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τ在ESIKF中与位姿联合估计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随机游走模型：τ̇ = 0（缓慢变化）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过程噪声 inv_expo_cov = 0.1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62400"/>
            <a:ext cx="10668000" cy="1841500"/>
          </a:xfrm>
          <a:prstGeom prst="roundRect">
            <a:avLst>
              <a:gd name="adj" fmla="val 5517"/>
            </a:avLst>
          </a:prstGeom>
          <a:solidFill>
            <a:srgbClr val="1A2E4B">
              <a:alpha val="6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089400"/>
            <a:ext cx="1028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曝光时间估计如何融入光度误差（公式14）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4445000"/>
            <a:ext cx="1028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原始光度残差：r = I_ref(u_ref) - I_cur(u_cur)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加入曝光归一化后：r = τ_ref·I_ref(u_ref) - τ_cur·I_cur(u_cur)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其中 τ_ref 是参考帧的逆曝光时间（固定，参考块创建时记录），τ_cur 是当前帧的逆曝光时间（ESIKF状态变量，待估计）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雅可比中多了一项：∂r/∂τ_cur = -I_cur(u_cur)（当前块灰度值）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ESIKF更新时同时优化位姿和τ_cur，两者联合估计，光照变化时τ自动调整，光度残差保持准确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604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代码对应：common_lib.h StatesGroup (τ是第7个状态), vio.cpp updateState() (雅可比含∂r/∂τ), avia.yaml exposure_estimate_en=true, inv_expo_cov=0.1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APPLICATIONS · 应用场景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这项技术能用在什么地方？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3213100" cy="4699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14500"/>
            <a:ext cx="3213100" cy="762000"/>
          </a:xfrm>
          <a:prstGeom prst="roundRect">
            <a:avLst>
              <a:gd name="adj" fmla="val 13333"/>
            </a:avLst>
          </a:prstGeom>
          <a:solidFill>
            <a:srgbClr val="4A6FA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1905000"/>
            <a:ext cx="28321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无人机机载导航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06500" y="2667000"/>
            <a:ext cx="28321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实时、低延迟、轻量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无人机对计算资源和重量极度敏感。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的直接法 + 统一地图设计，在 ARM 平台上可实时运行，延迟低。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LiDAR 退化时（如高空、开阔地）视觉补充约束。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论文在多种无人机平台上验证了实时性和精度。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83100" y="1714500"/>
            <a:ext cx="3213100" cy="4699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8720C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83100" y="1714500"/>
            <a:ext cx="3213100" cy="762000"/>
          </a:xfrm>
          <a:prstGeom prst="roundRect">
            <a:avLst>
              <a:gd name="adj" fmla="val 13333"/>
            </a:avLst>
          </a:prstGeom>
          <a:solidFill>
            <a:srgbClr val="E872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73600" y="1905000"/>
            <a:ext cx="28321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航空测绘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73600" y="2667000"/>
            <a:ext cx="28321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大场景、高精度、彩色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测绘需要覆盖大面积区域，且地图要有颜色信息。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输出彩色点云地图，地面文字、车道线清晰可辨。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法向细化让重建纹理质量显著提升。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大场景下滑窗管理保证内存恒定。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62900" y="1714500"/>
            <a:ext cx="3213100" cy="4699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C7A5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62900" y="1714500"/>
            <a:ext cx="3213100" cy="762000"/>
          </a:xfrm>
          <a:prstGeom prst="roundRect">
            <a:avLst>
              <a:gd name="adj" fmla="val 13333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53400" y="1905000"/>
            <a:ext cx="28321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3D 模型渲染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53400" y="2667000"/>
            <a:ext cx="28321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密集、带颜色、可渲染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重建的密集点云可直接用于 Mesh 表面重建。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也可作为 NeRF（神经辐射场）等渲染方法的输入。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统一地图保证几何和颜色天然对齐，无需后处理配准。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为数字孪生、AR/VR 提供基础数据。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· 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70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从数据到地图，完整旅程回顾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2089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七步走完一个处理周期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921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时间同步 — 三种数据对齐到图像时刻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2766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IMU 前向传播 — 积分推算当前位姿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322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点云去畸变 — 反向传播统一到帧尾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878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LiDAR 更新 — 点到平面直接法配准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921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视觉检索 — 找出可见的视觉地图点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2766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6. 视觉更新 — 光度误差金字塔优化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36322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7. 地图更新 — 插入新点 + 法向细化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462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488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一句话回答最初的问题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334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E1EB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机器人用 IMU 高频"猜"位置，用激光雷达"摸"出环境几何做第一次修正，再用摄像头"看"纹理做精修，三者共用同一张体素地图，通过迭代卡尔曼滤波器紧耦合融合，最终实时输出精确位姿和彩色点云地图。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4376" flipH="false" flipV="false">
            <a:off x="5461032" y="196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FAST-LIVO2：快速、直接的激光-惯性-视觉里程计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778000" y="2984500"/>
            <a:ext cx="863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3149600"/>
            <a:ext cx="812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延伸资源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5371" flipH="false" flipV="false">
            <a:off x="2032005" y="35750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159000" y="3746500"/>
            <a:ext cx="787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论文：arXiv:2408.14035 — FAST-LIVO2: Fast, Direct LiDAR-Inertial-Visual Odometry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4229100"/>
            <a:ext cx="787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代码：github.com/hku-mars/FAST-LIVO2（开源，C++ 实现）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4610100"/>
            <a:ext cx="787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团队：香港大学 MaRS 实验室（Marsette Robotics and Systems）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159000" y="4991100"/>
            <a:ext cx="787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前置工作：FAST-LIO2（LiDAR-IMU）、FAST-LIVO（初代三传感器融合）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9055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2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本演示基于论文原文与开源代码整理，面向非技术观众的科普解读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{"Label":"1","ContentProducer":"001191110102MACQD9K64010000","ProduceID":"7675646571316415428","ReservedCode1":"","ContentPropagator":"","PropagateID":"","ReservedCode2":""}</vt:lpwstr>
  </property>
</Properties>
</file>